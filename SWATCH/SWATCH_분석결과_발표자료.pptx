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87952"/>
            <a:ext cx="12188952" cy="2670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SWATCH 활성탄소섬유(ACF) 보호능력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DD7EE"/>
                </a:solidFill>
                <a:latin typeface="맑은 고딕"/>
              </a:rPr>
              <a:t>변수 변환 선형회귀 / 다항 Ridge 회귀 / 가우시안 프로세스 회귀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DC3E6"/>
                </a:solidFill>
                <a:latin typeface="맑은 고딕"/>
              </a:rPr>
              <a:t>■  GD / HD 보호농도 예측 모형 비교 연구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DC3E6"/>
                </a:solidFill>
                <a:latin typeface="맑은 고딕"/>
              </a:rPr>
              <a:t>분석 대상: ACF25-01 ~ ACF25-09  (n = 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DC3E6"/>
                </a:solidFill>
                <a:latin typeface="맑은 고딕"/>
              </a:rPr>
              <a:t>예측 변수: 무게(g/m²), BET 비표면적(m²/g)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DC3E6"/>
                </a:solidFill>
                <a:latin typeface="맑은 고딕"/>
              </a:rPr>
              <a:t>목표 변수: GD 보호농도(기준 ≤ 357), HD 보호농도(기준 ≤ 671)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1. 데이터 개요 및 합격/불합격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914400"/>
            <a:ext cx="1078992" cy="329184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" y="914400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39" y="914400"/>
            <a:ext cx="1078992" cy="329184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914400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무게(g/m²)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914400"/>
            <a:ext cx="987552" cy="329184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0008" y="914400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BET(m²/g)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914400"/>
            <a:ext cx="621792" cy="329184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914400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GD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914400"/>
            <a:ext cx="621792" cy="329184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7" y="914400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HD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914400"/>
            <a:ext cx="896112" cy="329184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7" y="91440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GD 판정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914400"/>
            <a:ext cx="896112" cy="329184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0407" y="91440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HD 판정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1261872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" y="1261872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ACF25-01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39" y="1261872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2728" y="1261872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105.2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1261872"/>
            <a:ext cx="9875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50008" y="1261872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1150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1261872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1261872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320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1261872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95927" y="1261872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280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1261872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7" y="1261872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1261872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407" y="1261872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" y="1609344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" y="1609344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ACF25-02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439" y="1609344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2728" y="1609344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99.3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1609344"/>
            <a:ext cx="9875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1609344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1450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1609344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5848" y="1609344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470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39" y="1609344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95927" y="1609344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220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1609344"/>
            <a:ext cx="896112" cy="329184"/>
          </a:xfrm>
          <a:prstGeom prst="rect">
            <a:avLst/>
          </a:prstGeom>
          <a:solidFill>
            <a:srgbClr val="FFC7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36007" y="1609344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불합격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32120" y="1609344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0407" y="1609344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" y="1956816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5448" y="1956816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ACF25-03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34439" y="1956816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52728" y="1956816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119.7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31720" y="1956816"/>
            <a:ext cx="9875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50008" y="1956816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1150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37560" y="1956816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55848" y="1956816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1150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77639" y="1956816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95927" y="1956816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550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1956816"/>
            <a:ext cx="896112" cy="329184"/>
          </a:xfrm>
          <a:prstGeom prst="rect">
            <a:avLst/>
          </a:prstGeom>
          <a:solidFill>
            <a:srgbClr val="FFC7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36007" y="1956816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불합격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32120" y="1956816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0407" y="1956816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304288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5448" y="2304288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ACF25-04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34439" y="2304288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52728" y="2304288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110.4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331720" y="2304288"/>
            <a:ext cx="9875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50008" y="2304288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1300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37560" y="2304288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55848" y="2304288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850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77639" y="2304288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95927" y="2304288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850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17720" y="2304288"/>
            <a:ext cx="896112" cy="329184"/>
          </a:xfrm>
          <a:prstGeom prst="rect">
            <a:avLst/>
          </a:prstGeom>
          <a:solidFill>
            <a:srgbClr val="FFC7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36007" y="2304288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불합격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32120" y="2304288"/>
            <a:ext cx="896112" cy="329184"/>
          </a:xfrm>
          <a:prstGeom prst="rect">
            <a:avLst/>
          </a:prstGeom>
          <a:solidFill>
            <a:srgbClr val="FFC7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7" y="2304288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불합격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2651760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5448" y="2651760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ACF25-05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34439" y="2651760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52728" y="2651760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103.4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31720" y="2651760"/>
            <a:ext cx="9875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50008" y="2651760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1016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37560" y="2651760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55848" y="2651760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470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77639" y="2651760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95927" y="2651760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580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17720" y="2651760"/>
            <a:ext cx="896112" cy="329184"/>
          </a:xfrm>
          <a:prstGeom prst="rect">
            <a:avLst/>
          </a:prstGeom>
          <a:solidFill>
            <a:srgbClr val="FFC7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36007" y="265176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불합격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32120" y="2651760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50407" y="265176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7160" y="2999232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55448" y="2999232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ACF25-06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234439" y="2999232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52728" y="2999232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122.8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31720" y="2999232"/>
            <a:ext cx="9875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50008" y="2999232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1080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337560" y="2999232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55848" y="2999232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20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77639" y="2999232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95927" y="2999232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140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17720" y="2999232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636007" y="2999232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32120" y="2999232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50407" y="2999232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37160" y="3346704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55448" y="3346704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ACF25-07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234439" y="3346704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252728" y="3346704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154.5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331720" y="3346704"/>
            <a:ext cx="9875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350008" y="3346704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1139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337560" y="3346704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55848" y="3346704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380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977639" y="3346704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995927" y="3346704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17720" y="3346704"/>
            <a:ext cx="896112" cy="329184"/>
          </a:xfrm>
          <a:prstGeom prst="rect">
            <a:avLst/>
          </a:prstGeom>
          <a:solidFill>
            <a:srgbClr val="FFC7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36007" y="3346704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불합격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532120" y="3346704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550407" y="3346704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7160" y="3694176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55448" y="3694176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ACF25-08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234439" y="3694176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52728" y="3694176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140.0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331720" y="3694176"/>
            <a:ext cx="9875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350008" y="3694176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1300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337560" y="3694176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355848" y="3694176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20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977639" y="3694176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995927" y="3694176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17720" y="3694176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636007" y="3694176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532120" y="3694176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550407" y="3694176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7160" y="4041648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5448" y="4041648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ACF25-09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234439" y="4041648"/>
            <a:ext cx="10789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252728" y="4041648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130.0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331720" y="4041648"/>
            <a:ext cx="9875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350008" y="4041648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2197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337560" y="4041648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55848" y="4041648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50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977639" y="4041648"/>
            <a:ext cx="62179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995927" y="4041648"/>
            <a:ext cx="6035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5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617720" y="4041648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636007" y="4041648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532120" y="4041648"/>
            <a:ext cx="896112" cy="32918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550407" y="4041648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맑은 고딕"/>
              </a:rPr>
              <a:t>합격</a:t>
            </a:r>
          </a:p>
        </p:txBody>
      </p:sp>
      <p:pic>
        <p:nvPicPr>
          <p:cNvPr id="145" name="Picture 144" descr="fig1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5394960" cy="2244376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82880" y="6126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7070"/>
                </a:solidFill>
                <a:latin typeface="맑은 고딕"/>
              </a:rPr>
              <a:t>※ GD 기준 ≤ 357, HD 기준 ≤ 671 (mg·min/m³)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2. 상관관계 분석 — 원본 vs 로그 변환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5351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◆ 핵심 관찰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로그 변환 후 log(HD)↔log(무게): -0.83,  log(HD)↔log(BET): -0.50  (상관도 크게 향상)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3. 변수 변환별 선형회귀 성능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trans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4860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맑은 고딕"/>
              </a:rPr>
              <a:t>◆ 결론: GD 모형은 어떤 변환에서도 F p &gt; 0.05 (유의하지 않음)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5A23"/>
                </a:solidFill>
                <a:latin typeface="맑은 고딕"/>
              </a:rPr>
              <a:t>HD 모형은 log(HD) ~ 무게 + log(BET) 변환 시 adj-R²=0.775, F p=0.0048로 유의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4. HD 최적 변환 OLS 모형 상세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HD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38048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120640"/>
            <a:ext cx="114300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166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모형: log(HD) ~ 무게 + log(BET)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R² = 0.831,  adj-R² = 0.775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166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F 통계량 p-값 = 0.0048 (유의수준 1% 이내)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5532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맑은 고딕"/>
              </a:rPr>
              <a:t>p(무게) = 0.004  ★★   p(BET) = 0.043  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5. 다항 Ridge 회귀 (2차항 + 상호작용항)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5_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81218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394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특성: 무게, BET, 무게², BET², 무게×BET  →  StandardScaler 표준화  →  RidgeCV (LOOCV 기반 α 선택)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※ n=9, 특성 5개: LOO 시 훈련 데이터 8개로 5개 특성 적합 → 과적합 위험. 학습 R² &gt; LOO R²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6. 가우시안 프로세스 회귀 (GPR)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6_g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4397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394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커널: C(1.0) × RBF([l₁, l₂]) + WhiteKernel(σ²)   |   n_restarts=15로 커널 파라미터 최적화   |   normalize_y=True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맑은 고딕"/>
              </a:rPr>
              <a:t>※ GD: 학습 R²=1.000 (보간 과적합), LOO R²&lt;0  /  HD: 학습 R²=0.68, LOO R²&lt;0  →  소표본 한계 명확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7. 모형 성능 종합 비교 (LOO Cross-Validation)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7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40547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" y="5029200"/>
            <a:ext cx="1810512" cy="310896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5029200"/>
            <a:ext cx="1792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모형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029200"/>
            <a:ext cx="1261872" cy="310896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5029200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GD 학습 R²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5029200"/>
            <a:ext cx="1261872" cy="310896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5029200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GD LOO 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5029200"/>
            <a:ext cx="1353312" cy="310896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5029200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GD LOO RMSE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5029200"/>
            <a:ext cx="1261872" cy="310896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8" y="5029200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HD 학습 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5029200"/>
            <a:ext cx="1261872" cy="310896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5029200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HD LOO R²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5029200"/>
            <a:ext cx="1353312" cy="310896"/>
          </a:xfrm>
          <a:prstGeom prst="rect">
            <a:avLst/>
          </a:prstGeom>
          <a:solidFill>
            <a:srgbClr val="2E75B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5029200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HD LOO RMSE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5358384"/>
            <a:ext cx="18105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" y="5358384"/>
            <a:ext cx="1792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원본 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5358384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29968" y="5358384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0.182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5358384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5358384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5358384"/>
            <a:ext cx="13533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5358384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358384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8" y="5358384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0.454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5358384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5358384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5358384"/>
            <a:ext cx="13533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8" y="5358384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687568"/>
            <a:ext cx="18105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" y="5687568"/>
            <a:ext cx="1792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변환 OLS (최적)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5687568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9968" y="5687568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0.243(GD)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5687568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10128" y="5687568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5687568"/>
            <a:ext cx="13533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0288" y="5687568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5687568"/>
            <a:ext cx="1261872" cy="310896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61888" y="5687568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75A23"/>
                </a:solidFill>
                <a:latin typeface="맑은 고딕"/>
              </a:rPr>
              <a:t>0.831★★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5687568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42048" y="5687568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5687568"/>
            <a:ext cx="13533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22208" y="5687568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6016752"/>
            <a:ext cx="18105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" y="6016752"/>
            <a:ext cx="1792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다항 Ridge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0" y="6016752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29968" y="6016752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0.175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6016752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10128" y="6016752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-0.235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6016752"/>
            <a:ext cx="13533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90288" y="6016752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~500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6016752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61888" y="6016752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0.419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60" y="6016752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42048" y="6016752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0.134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3920" y="6016752"/>
            <a:ext cx="13533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22208" y="6016752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~280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6345936"/>
            <a:ext cx="18105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1168" y="6345936"/>
            <a:ext cx="17922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GPR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11680" y="6345936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29968" y="6345936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1.000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91840" y="6345936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10128" y="6345936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-0.266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6345936"/>
            <a:ext cx="13533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90288" y="6345936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~409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6345936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61888" y="6345936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0.680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6345936"/>
            <a:ext cx="12618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42048" y="6345936"/>
            <a:ext cx="1243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-0.199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03920" y="6345936"/>
            <a:ext cx="135331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22208" y="6345936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</a:rPr>
              <a:t>~313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8. 결론 및 시사점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603504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91440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맑은 고딕"/>
              </a:rPr>
              <a:t>GD 보호농도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무게(g/m²)와 BET 비표면적만으로는 GD 농도를 유의하게 설명하지 못함 (모든 모형 F p &gt; 0.05).
추가 설명 변수(원단 구조, 처리방법 등) 필요.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84248"/>
            <a:ext cx="91440" cy="777240"/>
          </a:xfrm>
          <a:prstGeom prst="rect">
            <a:avLst/>
          </a:prstGeom>
          <a:solidFill>
            <a:srgbClr val="375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5A23"/>
                </a:solidFill>
                <a:latin typeface="맑은 고딕"/>
              </a:rPr>
              <a:t>HD 보호농도 ★ 핵심 발견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log(HD) ~ 무게 + log(BET) 변환 OLS가 R²=0.831, adj-R²=0.775, F p=0.0048로 고도로 유의.
→ HD 보호능력은 무게↑ + BET↑ 일수록 낮아지는(보호능력↑) 강한 선형 관계 존재.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08376"/>
            <a:ext cx="9144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083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다항 Ridge 회귀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5584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n=9 대비 5개 특성으로 LOO 교차검증 시 음의 R² 발생 (과적합).
소표본에서는 단순 선형모형이 더 안정적. 변환 OLS HD 모형 권장.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32504"/>
            <a:ext cx="9144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325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맑은 고딕"/>
              </a:rPr>
              <a:t>가우시안 프로세스 회귀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79976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GD 학습 R²=1.0 (보간) 이지만 LOO R²&lt;0 — 외삽 예측 불안정.
소표본 비선형 탐색 목적으로는 유용하나 예측 모형으로는 부적합.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56632"/>
            <a:ext cx="91440" cy="7772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056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030A0"/>
                </a:solidFill>
                <a:latin typeface="맑은 고딕"/>
              </a:rPr>
              <a:t>향후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04104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추가 샘플 확보 (최소 n≥20 권장) → Ridge/GPR 예측력 재평가.
GD 영향 인자 추가 실험 설계 필요.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